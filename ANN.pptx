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0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05C79-16EF-84FA-3694-4D722767A0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5A5454-A7E1-326D-FA13-D6949FBF7C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27B9F4-C14B-A7B3-8E13-352FA95DD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10BF2-F4D2-478F-A2C4-F9B13FE39140}" type="datetimeFigureOut">
              <a:rPr lang="en-IN" smtClean="0"/>
              <a:t>Sat 20/09/25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5B08E-711F-0E5A-CF2E-02F6C996C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62565-813F-DFDF-6AA7-01CB0EC62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3761A-F310-4590-BC05-7C9BC6F24A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7458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4E0A8-3A05-9FF4-02A2-75758C690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5B895-FCA1-E94F-4790-3F9CC32C7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B78182-7B9D-9D42-F320-15B9F779D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10BF2-F4D2-478F-A2C4-F9B13FE39140}" type="datetimeFigureOut">
              <a:rPr lang="en-IN" smtClean="0"/>
              <a:t>Sat 20/09/25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B26A2-7611-250A-2AEC-8AC2016C8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B0E00-EDE1-56A0-8640-F1A45B953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3761A-F310-4590-BC05-7C9BC6F24A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8620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DCC2B-06D7-DBF7-CF22-D1652216D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5DC94-4CB0-7B4F-8C70-AEA559BC56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DD91DD-D7EC-2289-E3B7-064CBDAAD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10BF2-F4D2-478F-A2C4-F9B13FE39140}" type="datetimeFigureOut">
              <a:rPr lang="en-IN" smtClean="0"/>
              <a:t>Sat 20/09/25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0B6D1B-1D32-FC59-6A9A-DA26B8E28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D52D03-7709-4BE9-ED97-A5277004D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3761A-F310-4590-BC05-7C9BC6F24A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6296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26B14-7F59-0463-3108-B084E999F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657E1-FE03-78E7-3171-83728CA4FE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7ABD4-E798-4BF6-BCED-99D5782DB5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8ECDE7-FE9F-0A19-9968-E5530B757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10BF2-F4D2-478F-A2C4-F9B13FE39140}" type="datetimeFigureOut">
              <a:rPr lang="en-IN" smtClean="0"/>
              <a:t>Sat 20/09/25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1574C5-2773-DC27-4C12-04FB0FA98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321DD0-B284-0A8E-85E0-4C2CECEBD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3761A-F310-4590-BC05-7C9BC6F24A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6811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2F5FC-ED41-FB75-5A5D-3BDA65928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5E46AF-7B2F-AD55-A719-B2C3F0FCF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647FAB-959D-6FE0-1065-4F6E5AA4A6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F3F12B-4607-0F09-40A0-7503E109AC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84B3E5-76E5-2BE1-BA4A-19509CD409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7D9B2E-3AC1-5471-5A17-C3BCAEE76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10BF2-F4D2-478F-A2C4-F9B13FE39140}" type="datetimeFigureOut">
              <a:rPr lang="en-IN" smtClean="0"/>
              <a:t>Sat 20/09/25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4D214E-168C-E44F-C4F9-24193F05A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3FC6ED-AC6E-3151-3771-CF0E746F5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3761A-F310-4590-BC05-7C9BC6F24A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9671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8C733-C302-9C3A-56C3-F9A75B65A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2D1315-C36B-D9F1-472A-A452C22C9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10BF2-F4D2-478F-A2C4-F9B13FE39140}" type="datetimeFigureOut">
              <a:rPr lang="en-IN" smtClean="0"/>
              <a:t>Sat 20/09/25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336F1B-4C8C-E11B-D55E-DE414001B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621333-3006-AF89-A318-8AD0DBA42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3761A-F310-4590-BC05-7C9BC6F24A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0303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4015F9-36AF-E348-9A09-096B21236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10BF2-F4D2-478F-A2C4-F9B13FE39140}" type="datetimeFigureOut">
              <a:rPr lang="en-IN" smtClean="0"/>
              <a:t>Sat 20/09/25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52E722-4FF5-C5BC-364F-88A82BAB8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E5550C-F769-5765-6A8C-90C407FDB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3761A-F310-4590-BC05-7C9BC6F24A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5008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B9B64-AD1A-12F2-A62D-75800D949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48797-B72C-038B-368D-293C7D70F6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A9CDB6-7BEF-6412-A0E5-159CD23182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170F8-E834-E0D7-FFB2-5D0760A0C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10BF2-F4D2-478F-A2C4-F9B13FE39140}" type="datetimeFigureOut">
              <a:rPr lang="en-IN" smtClean="0"/>
              <a:t>Sat 20/09/25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CFFBF2-DFCE-AA39-9C31-373FADF8E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65A568-D515-B432-6D30-759A03CF8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3761A-F310-4590-BC05-7C9BC6F24A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631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169A0-8FC1-B88C-BFCC-8CAC64118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0315D4-8814-2EF9-16DD-00E58EBA4E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4188B1-30F2-DEA7-F338-8940FFAFE2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21EA3A-50A4-E02E-9E2E-085B9D6C8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10BF2-F4D2-478F-A2C4-F9B13FE39140}" type="datetimeFigureOut">
              <a:rPr lang="en-IN" smtClean="0"/>
              <a:t>Sat 20/09/25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EFBFA-EDB8-238F-2FE4-5ACE0F0DB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3EB276-BE90-67C7-47B8-0E058999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3761A-F310-4590-BC05-7C9BC6F24A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1345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CFF28-C6CC-078F-9334-BDA612BF4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C02037-9AE8-1A0E-038A-2E72AE8F5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49D6C9-D0DD-41D2-B13A-A9DA6CF1E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10BF2-F4D2-478F-A2C4-F9B13FE39140}" type="datetimeFigureOut">
              <a:rPr lang="en-IN" smtClean="0"/>
              <a:t>Sat 20/09/25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4F484-CA85-7407-7869-1E00495EA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D1839-FD97-030C-FBD6-BB96209AF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3761A-F310-4590-BC05-7C9BC6F24A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6052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3C5A44-0E2B-2E69-726A-78D571E0AD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BF30E8-02C9-3744-87A6-07D116FEF1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FD6CAE-4422-C0D7-CAE9-1461D8888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10BF2-F4D2-478F-A2C4-F9B13FE39140}" type="datetimeFigureOut">
              <a:rPr lang="en-IN" smtClean="0"/>
              <a:t>Sat 20/09/25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564C26-841E-EB90-5ECC-52C72B877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03FA4-B74C-E8B0-5E59-D136B551C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3761A-F310-4590-BC05-7C9BC6F24A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7976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E06F13-C98C-4A91-CB3F-AC0FDA01B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CE3F36-8C5E-6434-23FE-5ABADB070A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8FDC86-AAC5-1EC3-D8AE-FAC5CD3038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D10BF2-F4D2-478F-A2C4-F9B13FE39140}" type="datetimeFigureOut">
              <a:rPr lang="en-IN" smtClean="0"/>
              <a:t>Sat 20/09/25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C4DB0-3E75-0647-C619-ACC693D180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BD770-EA5E-F89B-7BD9-DCB9DEDF76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D3761A-F310-4590-BC05-7C9BC6F24A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873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7D2FA-7CEB-98F7-74B5-C0BCA92212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Artificial Neural Networks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CAE7A3-6155-E374-67D9-C1D81766F7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>
                <a:solidFill>
                  <a:srgbClr val="00B050"/>
                </a:solidFill>
              </a:rPr>
              <a:t>Deep  Learning</a:t>
            </a:r>
          </a:p>
        </p:txBody>
      </p:sp>
    </p:spTree>
    <p:extLst>
      <p:ext uri="{BB962C8B-B14F-4D97-AF65-F5344CB8AC3E}">
        <p14:creationId xmlns:p14="http://schemas.microsoft.com/office/powerpoint/2010/main" val="2619643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438FA-8FF6-B2E9-83B2-0B9A19AD6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364" y="0"/>
            <a:ext cx="10515600" cy="1325563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Communication in Human Brain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B9A2C-38B8-B1A1-B9CA-9CAEEB57E7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364" y="1392573"/>
            <a:ext cx="5034093" cy="484311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human brain has around </a:t>
            </a:r>
            <a:r>
              <a:rPr lang="en-US" b="1" dirty="0"/>
              <a:t>86 billion neurons</a:t>
            </a:r>
            <a:r>
              <a:rPr lang="en-US" dirty="0"/>
              <a:t> (nerve cells). Each neuron is like a tiny processing unit that communicates with others. </a:t>
            </a:r>
          </a:p>
          <a:p>
            <a:r>
              <a:rPr lang="en-US" dirty="0"/>
              <a:t>Neuron can be perceived as a "receiver, processor, and sender of information.</a:t>
            </a:r>
          </a:p>
          <a:p>
            <a:r>
              <a:rPr lang="en-IN" dirty="0"/>
              <a:t>Neurons communicate using </a:t>
            </a:r>
            <a:r>
              <a:rPr lang="en-IN" b="1" dirty="0"/>
              <a:t>electrical impulses</a:t>
            </a:r>
            <a:r>
              <a:rPr lang="en-IN" dirty="0"/>
              <a:t> called </a:t>
            </a:r>
            <a:r>
              <a:rPr lang="en-IN" b="1" dirty="0"/>
              <a:t>action potentials  </a:t>
            </a:r>
            <a:r>
              <a:rPr lang="en-IN" dirty="0"/>
              <a:t>through</a:t>
            </a:r>
            <a:r>
              <a:rPr lang="en-IN" b="1" dirty="0"/>
              <a:t> axons.</a:t>
            </a:r>
          </a:p>
          <a:p>
            <a:r>
              <a:rPr lang="en-US" dirty="0"/>
              <a:t>The more often two neurons fire together, the </a:t>
            </a:r>
            <a:r>
              <a:rPr lang="en-US" b="1" dirty="0"/>
              <a:t>stronger their connection (synaptic weight)</a:t>
            </a:r>
            <a:r>
              <a:rPr lang="en-US" dirty="0"/>
              <a:t> becomes.</a:t>
            </a:r>
          </a:p>
          <a:p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FED570-F78A-1503-0830-91591EA3B8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8070" y="2302414"/>
            <a:ext cx="6248583" cy="288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000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CF76B-507F-DE3C-0823-021F31C7C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Communication in Human Brain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23803-4D8D-5377-957C-995F8815B1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junction where two neurons meet is called a synapse and is where intercell communication takes place.</a:t>
            </a:r>
          </a:p>
          <a:p>
            <a:r>
              <a:rPr lang="en-US" dirty="0"/>
              <a:t> Neurons communicate with one another through action potentials (changes in a neuron’s electric potential) and neurotransmitters</a:t>
            </a:r>
          </a:p>
          <a:p>
            <a:r>
              <a:rPr lang="en-US" dirty="0"/>
              <a:t>Essentially, synapses convert an electrical signal (the action potential) into a chemical signal (the neurotransmitters) and then back into an electrical signal once it meets the next neuron.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7283C6-34AC-1C0E-350F-399F1597BD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6393" y="1405360"/>
            <a:ext cx="4920749" cy="4879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10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44BC0-C8E6-19FD-9809-41AA8505B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Artificial Neurons(</a:t>
            </a:r>
            <a:r>
              <a:rPr lang="en-IN" dirty="0" err="1">
                <a:solidFill>
                  <a:srgbClr val="FF0000"/>
                </a:solidFill>
              </a:rPr>
              <a:t>Perceptrons</a:t>
            </a:r>
            <a:r>
              <a:rPr lang="en-IN" dirty="0">
                <a:solidFill>
                  <a:srgbClr val="FF0000"/>
                </a:solidFill>
              </a:rPr>
              <a:t>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31837-0FB6-3421-EB4B-7549D2C4C9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586" y="1690688"/>
            <a:ext cx="4211972" cy="4351338"/>
          </a:xfrm>
        </p:spPr>
        <p:txBody>
          <a:bodyPr/>
          <a:lstStyle/>
          <a:p>
            <a:r>
              <a:rPr lang="en-US" dirty="0"/>
              <a:t>An </a:t>
            </a:r>
            <a:r>
              <a:rPr lang="en-US" b="1" dirty="0"/>
              <a:t>artificial neuron</a:t>
            </a:r>
            <a:r>
              <a:rPr lang="en-US" dirty="0"/>
              <a:t> is a </a:t>
            </a:r>
            <a:r>
              <a:rPr lang="en-US" b="1" dirty="0"/>
              <a:t>mathematical function</a:t>
            </a:r>
            <a:r>
              <a:rPr lang="en-US" dirty="0"/>
              <a:t> inspired by how a biological neuron processes signals.</a:t>
            </a:r>
          </a:p>
          <a:p>
            <a:r>
              <a:rPr lang="en-US" dirty="0"/>
              <a:t>Just like dendrites receive signals, an artificial neuron receives </a:t>
            </a:r>
            <a:r>
              <a:rPr lang="en-US" b="1" dirty="0"/>
              <a:t>input values</a:t>
            </a:r>
            <a:endParaRPr lang="en-IN" dirty="0"/>
          </a:p>
        </p:txBody>
      </p:sp>
      <p:pic>
        <p:nvPicPr>
          <p:cNvPr id="1026" name="Picture 2" descr="Image (at left) by Clker-Free-Vector-Images from Pixabay and image (at right) by author, made with draw.io">
            <a:extLst>
              <a:ext uri="{FF2B5EF4-FFF2-40B4-BE49-F238E27FC236}">
                <a16:creationId xmlns:a16="http://schemas.microsoft.com/office/drawing/2014/main" id="{8560253D-1578-4ED6-C425-D3AEF96C85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7332" y="1953658"/>
            <a:ext cx="7497222" cy="3213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7282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3B4A0-A363-0921-023E-F952C4CAF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Artificial Neurons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33F13D-C023-AAA8-72F2-9A9D4592E6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5461932" cy="4351338"/>
              </a:xfrm>
            </p:spPr>
            <p:txBody>
              <a:bodyPr/>
              <a:lstStyle/>
              <a:p>
                <a:r>
                  <a:rPr lang="en-US" dirty="0"/>
                  <a:t>The neuron </a:t>
                </a:r>
                <a:r>
                  <a:rPr lang="en-US" b="1" dirty="0"/>
                  <a:t>adds up the weighted inputs</a:t>
                </a:r>
                <a:endParaRPr lang="en-US" dirty="0"/>
              </a:p>
              <a:p>
                <a:r>
                  <a:rPr lang="en-US" dirty="0"/>
                  <a:t>The summed value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passed through a </a:t>
                </a:r>
                <a:r>
                  <a:rPr lang="en-US" b="1" dirty="0"/>
                  <a:t>non-linear function</a:t>
                </a:r>
                <a:r>
                  <a:rPr lang="en-US" dirty="0"/>
                  <a:t> called the </a:t>
                </a:r>
                <a:r>
                  <a:rPr lang="en-US" b="1" dirty="0"/>
                  <a:t>activation function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The final value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𝑜𝑢𝑡𝑝𝑢𝑡</m:t>
                        </m:r>
                      </m:e>
                    </m:d>
                  </m:oMath>
                </a14:m>
                <a:r>
                  <a:rPr lang="en-US" dirty="0"/>
                  <a:t> is the </a:t>
                </a:r>
                <a:r>
                  <a:rPr lang="en-US" b="1" dirty="0"/>
                  <a:t>signal sent forward</a:t>
                </a:r>
                <a:r>
                  <a:rPr lang="en-US" dirty="0"/>
                  <a:t> to the next layer of neurons.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33F13D-C023-AAA8-72F2-9A9D4592E6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5461932" cy="4351338"/>
              </a:xfrm>
              <a:blipFill>
                <a:blip r:embed="rId2"/>
                <a:stretch>
                  <a:fillRect l="-2011" t="-2241" r="-16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0FAA3F1-7860-07CC-1EB3-2A0905C2E6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242" y="1169897"/>
            <a:ext cx="486747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409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5B8F8-2341-9EB1-AA06-3540A1A6A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6112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Artificial Neural Network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CF23B-1AA3-4899-AD40-D39608EE8B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997" y="1347453"/>
            <a:ext cx="6817812" cy="5145421"/>
          </a:xfrm>
        </p:spPr>
        <p:txBody>
          <a:bodyPr>
            <a:normAutofit/>
          </a:bodyPr>
          <a:lstStyle/>
          <a:p>
            <a:r>
              <a:rPr lang="en-US" dirty="0"/>
              <a:t>The </a:t>
            </a:r>
            <a:r>
              <a:rPr lang="en-US" b="1" dirty="0"/>
              <a:t>b</a:t>
            </a:r>
            <a:r>
              <a:rPr lang="en-US" dirty="0"/>
              <a:t> is called the </a:t>
            </a:r>
            <a:r>
              <a:rPr lang="en-US" b="1" i="1" dirty="0"/>
              <a:t>bias term</a:t>
            </a:r>
            <a:r>
              <a:rPr lang="en-US" dirty="0"/>
              <a:t> or </a:t>
            </a:r>
            <a:r>
              <a:rPr lang="en-US" b="1" i="1" dirty="0"/>
              <a:t>bias unit</a:t>
            </a:r>
            <a:r>
              <a:rPr lang="en-US" dirty="0"/>
              <a:t> that also takes a numerical value. It is added to the weighted sum of inputs. </a:t>
            </a:r>
          </a:p>
          <a:p>
            <a:r>
              <a:rPr lang="en-US" dirty="0"/>
              <a:t>The purpose of including a bias term is to shift the activation function of each perceptron to not get a zero value. </a:t>
            </a:r>
          </a:p>
          <a:p>
            <a:r>
              <a:rPr lang="en-US" dirty="0"/>
              <a:t>In other words, if all </a:t>
            </a:r>
            <a:r>
              <a:rPr lang="en-US" b="1" dirty="0"/>
              <a:t>x1</a:t>
            </a:r>
            <a:r>
              <a:rPr lang="en-US" dirty="0"/>
              <a:t>, </a:t>
            </a:r>
            <a:r>
              <a:rPr lang="en-US" b="1" dirty="0"/>
              <a:t>x2</a:t>
            </a:r>
            <a:r>
              <a:rPr lang="en-US" dirty="0"/>
              <a:t>, …, </a:t>
            </a:r>
            <a:r>
              <a:rPr lang="en-US" b="1" dirty="0" err="1"/>
              <a:t>xn</a:t>
            </a:r>
            <a:r>
              <a:rPr lang="en-US" dirty="0"/>
              <a:t> inputs are 0, the </a:t>
            </a:r>
            <a:r>
              <a:rPr lang="en-US" b="1" dirty="0"/>
              <a:t>z</a:t>
            </a:r>
            <a:r>
              <a:rPr lang="en-US" dirty="0"/>
              <a:t> is equal to the value of bias.</a:t>
            </a:r>
          </a:p>
          <a:p>
            <a:r>
              <a:rPr lang="en-US" dirty="0"/>
              <a:t>You can also think of the above </a:t>
            </a:r>
            <a:r>
              <a:rPr lang="en-US" b="1" dirty="0"/>
              <a:t>z</a:t>
            </a:r>
            <a:r>
              <a:rPr lang="en-US" dirty="0"/>
              <a:t> function as a linear regression model in which weights are known as </a:t>
            </a:r>
            <a:r>
              <a:rPr lang="en-US" b="1" i="1" dirty="0"/>
              <a:t>coefficients</a:t>
            </a:r>
            <a:r>
              <a:rPr lang="en-US" dirty="0"/>
              <a:t> and the bias term is known as the </a:t>
            </a:r>
            <a:r>
              <a:rPr lang="en-US" b="1" i="1" dirty="0"/>
              <a:t>intercept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6DD1C7-0A43-B57D-D72C-CDFFBF3975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2655" y="626000"/>
            <a:ext cx="4068401" cy="3636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0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3E425-39F5-5DDF-F7B4-2C37AD076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Artificial Neural Network </a:t>
            </a:r>
            <a:endParaRPr lang="en-IN" dirty="0"/>
          </a:p>
        </p:txBody>
      </p:sp>
      <p:pic>
        <p:nvPicPr>
          <p:cNvPr id="2050" name="Picture 2" descr="The calculation process inside a perceptron (Image by author, made with draw.io)">
            <a:extLst>
              <a:ext uri="{FF2B5EF4-FFF2-40B4-BE49-F238E27FC236}">
                <a16:creationId xmlns:a16="http://schemas.microsoft.com/office/drawing/2014/main" id="{58E653EA-1F5B-3BE2-0028-5A30EFF53F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2440" y="1234929"/>
            <a:ext cx="4569815" cy="4593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8BB9D0C-AD94-4871-0F32-1EE220DD324D}"/>
              </a:ext>
            </a:extLst>
          </p:cNvPr>
          <p:cNvSpPr txBox="1"/>
          <p:nvPr/>
        </p:nvSpPr>
        <p:spPr>
          <a:xfrm>
            <a:off x="6190376" y="6071460"/>
            <a:ext cx="551394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dirty="0"/>
              <a:t>https://towardsdatascience.com/the-concept-of-artificial-neurons-perceptrons-in-neural-networks-fab22249cbfc/</a:t>
            </a:r>
          </a:p>
        </p:txBody>
      </p:sp>
    </p:spTree>
    <p:extLst>
      <p:ext uri="{BB962C8B-B14F-4D97-AF65-F5344CB8AC3E}">
        <p14:creationId xmlns:p14="http://schemas.microsoft.com/office/powerpoint/2010/main" val="803966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4621F-35F8-DBD4-9C30-313FFED70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Artificial Neural Network (Regression)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C510B6-C072-B910-5493-9249BC1293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120" t="33517" r="12536" b="2996"/>
          <a:stretch>
            <a:fillRect/>
          </a:stretch>
        </p:blipFill>
        <p:spPr>
          <a:xfrm>
            <a:off x="2248249" y="1577130"/>
            <a:ext cx="6585358" cy="43538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5237DE-CA8B-CB44-5454-8DADDF571DFF}"/>
              </a:ext>
            </a:extLst>
          </p:cNvPr>
          <p:cNvSpPr txBox="1"/>
          <p:nvPr/>
        </p:nvSpPr>
        <p:spPr>
          <a:xfrm>
            <a:off x="3567419" y="6132244"/>
            <a:ext cx="609460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dirty="0"/>
              <a:t>https://joshuagoings.com/2020/05/05/neural-network/</a:t>
            </a:r>
          </a:p>
        </p:txBody>
      </p:sp>
    </p:spTree>
    <p:extLst>
      <p:ext uri="{BB962C8B-B14F-4D97-AF65-F5344CB8AC3E}">
        <p14:creationId xmlns:p14="http://schemas.microsoft.com/office/powerpoint/2010/main" val="2503749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6D341-8AEB-173D-7C97-55E007F9B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Artificial Neural Network (Classification)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4F7EF60-5B90-A495-9F69-50B6B239B9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5268" y="2097473"/>
            <a:ext cx="9525000" cy="34385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F68C392-AFA6-C486-AD35-2CAD55BFFFB5}"/>
              </a:ext>
            </a:extLst>
          </p:cNvPr>
          <p:cNvSpPr txBox="1"/>
          <p:nvPr/>
        </p:nvSpPr>
        <p:spPr>
          <a:xfrm>
            <a:off x="2770465" y="5827367"/>
            <a:ext cx="609460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dirty="0"/>
              <a:t>https://thinkingneuron.com/how-to-use-artificial-neural-networks-for-classification-in-python/</a:t>
            </a:r>
          </a:p>
        </p:txBody>
      </p:sp>
    </p:spTree>
    <p:extLst>
      <p:ext uri="{BB962C8B-B14F-4D97-AF65-F5344CB8AC3E}">
        <p14:creationId xmlns:p14="http://schemas.microsoft.com/office/powerpoint/2010/main" val="2034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AE195-2331-DD44-A33F-4B47E5F70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Activation Functions</a:t>
            </a:r>
          </a:p>
        </p:txBody>
      </p:sp>
      <p:pic>
        <p:nvPicPr>
          <p:cNvPr id="4098" name="Picture 2" descr="Types of Activation Functions in Deep Learning | by Ravjot Singh |  DataDrivenInvestor">
            <a:extLst>
              <a:ext uri="{FF2B5EF4-FFF2-40B4-BE49-F238E27FC236}">
                <a16:creationId xmlns:a16="http://schemas.microsoft.com/office/drawing/2014/main" id="{0183580E-16B9-1099-0E5F-003B21A8118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4483" y="1825625"/>
            <a:ext cx="9863033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24246B5-B29E-6B41-2CF0-5AEC1439EA2D}"/>
              </a:ext>
            </a:extLst>
          </p:cNvPr>
          <p:cNvSpPr txBox="1"/>
          <p:nvPr/>
        </p:nvSpPr>
        <p:spPr>
          <a:xfrm>
            <a:off x="2778853" y="6262043"/>
            <a:ext cx="609460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dirty="0"/>
              <a:t>https://medium.datadriveninvestor.com/types-of-activation-functions-in-deep-learning-e7c2a48d3242</a:t>
            </a:r>
          </a:p>
        </p:txBody>
      </p:sp>
    </p:spTree>
    <p:extLst>
      <p:ext uri="{BB962C8B-B14F-4D97-AF65-F5344CB8AC3E}">
        <p14:creationId xmlns:p14="http://schemas.microsoft.com/office/powerpoint/2010/main" val="27286443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D409CC25-0A12-F524-01C9-B5B171B9A7DD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928193025"/>
                  </p:ext>
                </p:extLst>
              </p:nvPr>
            </p:nvGraphicFramePr>
            <p:xfrm>
              <a:off x="486561" y="385895"/>
              <a:ext cx="11325138" cy="6123964"/>
            </p:xfrm>
            <a:graphic>
              <a:graphicData uri="http://schemas.openxmlformats.org/drawingml/2006/table">
                <a:tbl>
                  <a:tblPr/>
                  <a:tblGrid>
                    <a:gridCol w="1887523">
                      <a:extLst>
                        <a:ext uri="{9D8B030D-6E8A-4147-A177-3AD203B41FA5}">
                          <a16:colId xmlns:a16="http://schemas.microsoft.com/office/drawing/2014/main" val="717876137"/>
                        </a:ext>
                      </a:extLst>
                    </a:gridCol>
                    <a:gridCol w="1887523">
                      <a:extLst>
                        <a:ext uri="{9D8B030D-6E8A-4147-A177-3AD203B41FA5}">
                          <a16:colId xmlns:a16="http://schemas.microsoft.com/office/drawing/2014/main" val="822330016"/>
                        </a:ext>
                      </a:extLst>
                    </a:gridCol>
                    <a:gridCol w="1887523">
                      <a:extLst>
                        <a:ext uri="{9D8B030D-6E8A-4147-A177-3AD203B41FA5}">
                          <a16:colId xmlns:a16="http://schemas.microsoft.com/office/drawing/2014/main" val="4177873154"/>
                        </a:ext>
                      </a:extLst>
                    </a:gridCol>
                    <a:gridCol w="1887523">
                      <a:extLst>
                        <a:ext uri="{9D8B030D-6E8A-4147-A177-3AD203B41FA5}">
                          <a16:colId xmlns:a16="http://schemas.microsoft.com/office/drawing/2014/main" val="3299295190"/>
                        </a:ext>
                      </a:extLst>
                    </a:gridCol>
                    <a:gridCol w="1887523">
                      <a:extLst>
                        <a:ext uri="{9D8B030D-6E8A-4147-A177-3AD203B41FA5}">
                          <a16:colId xmlns:a16="http://schemas.microsoft.com/office/drawing/2014/main" val="779673406"/>
                        </a:ext>
                      </a:extLst>
                    </a:gridCol>
                    <a:gridCol w="1887523">
                      <a:extLst>
                        <a:ext uri="{9D8B030D-6E8A-4147-A177-3AD203B41FA5}">
                          <a16:colId xmlns:a16="http://schemas.microsoft.com/office/drawing/2014/main" val="23104193"/>
                        </a:ext>
                      </a:extLst>
                    </a:gridCol>
                  </a:tblGrid>
                  <a:tr h="17250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600"/>
                            <a:t>Activation</a:t>
                          </a:r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600"/>
                            <a:t>Formula</a:t>
                          </a:r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600"/>
                            <a:t>Range</a:t>
                          </a:r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600"/>
                            <a:t>Strengths ✅</a:t>
                          </a:r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600"/>
                            <a:t>Drawbacks ❌</a:t>
                          </a:r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600"/>
                            <a:t>Typical Use</a:t>
                          </a:r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73969987"/>
                      </a:ext>
                    </a:extLst>
                  </a:tr>
                  <a:tr h="107816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600" b="1"/>
                            <a:t>Sigmoid</a:t>
                          </a:r>
                          <a:endParaRPr lang="en-IN" sz="600"/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ar-AE" sz="6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ar-AE" sz="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sz="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ar-AE" sz="600" i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ar-AE" sz="6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ar-AE" sz="600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ar-AE" sz="600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ar-AE" sz="600" i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ar-AE" sz="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ar-AE" sz="600" i="1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ar-AE" sz="600" i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ar-AE" sz="6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ar-AE" sz="600"/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600"/>
                            <a:t>(0, 1)</a:t>
                          </a:r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600"/>
                            <a:t>- Smooth, differentiable- Interpretable as probability</a:t>
                          </a:r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600" dirty="0"/>
                            <a:t>- Vanishing gradients (saturates at extremes)- Not zero-centered (slows learning)- Expensive computation</a:t>
                          </a:r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600"/>
                            <a:t>Output layer in binary classification</a:t>
                          </a:r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04617269"/>
                      </a:ext>
                    </a:extLst>
                  </a:tr>
                  <a:tr h="81940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600" b="1"/>
                            <a:t>Tanh</a:t>
                          </a:r>
                          <a:endParaRPr lang="en-IN" sz="600"/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IN" sz="600"/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600"/>
                            <a:t>(-1, 1)</a:t>
                          </a:r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600"/>
                            <a:t>- Zero-centered- Stronger gradients than sigmoid- Better for hidden layers than sigmoid</a:t>
                          </a:r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600"/>
                            <a:t>- Still suffers vanishing gradients at extremes</a:t>
                          </a:r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600"/>
                            <a:t>Hidden layers in RNNs (older architectures)</a:t>
                          </a:r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39868865"/>
                      </a:ext>
                    </a:extLst>
                  </a:tr>
                  <a:tr h="94878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600" b="1"/>
                            <a:t>ReLU</a:t>
                          </a:r>
                          <a:endParaRPr lang="en-IN" sz="600"/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IN" sz="600"/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600"/>
                            <a:t>[0, ∞)</a:t>
                          </a:r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600"/>
                            <a:t>- Simple &amp; efficient- Sparse activations (many zeros)- Avoids vanishing gradient (for +ve side)</a:t>
                          </a:r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600"/>
                            <a:t>- </a:t>
                          </a:r>
                          <a:r>
                            <a:rPr lang="en-IN" sz="600" b="1"/>
                            <a:t>Dying ReLU problem</a:t>
                          </a:r>
                          <a:r>
                            <a:rPr lang="en-IN" sz="600"/>
                            <a:t> (neurons stuck at 0)- Not zero-centered</a:t>
                          </a:r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600"/>
                            <a:t>Default choice for hidden layers in modern DNNs</a:t>
                          </a:r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87583250"/>
                      </a:ext>
                    </a:extLst>
                  </a:tr>
                  <a:tr h="690024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600" b="1"/>
                            <a:t>Leaky ReLU</a:t>
                          </a:r>
                          <a:endParaRPr lang="en-IN" sz="600"/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ar-AE" sz="6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ar-AE" sz="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ar-AE" sz="600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ar-AE" sz="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IN" sz="600"/>
                            <a:t>if </a:t>
                          </a:r>
                          <a14:m>
                            <m:oMath xmlns:m="http://schemas.openxmlformats.org/officeDocument/2006/math">
                              <m:r>
                                <a:rPr lang="en-IN" sz="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IN" sz="600" i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IN" sz="6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oMath>
                          </a14:m>
                          <a:r>
                            <a:rPr lang="en-IN" sz="600"/>
                            <a:t>, else </a:t>
                          </a:r>
                          <a14:m>
                            <m:oMath xmlns:m="http://schemas.openxmlformats.org/officeDocument/2006/math">
                              <m:r>
                                <a:rPr lang="en-IN" sz="6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IN" sz="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IN" sz="60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IN" sz="6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IN" sz="600" i="0">
                                  <a:latin typeface="Cambria Math" panose="02040503050406030204" pitchFamily="18" charset="0"/>
                                </a:rPr>
                                <m:t>≈</m:t>
                              </m:r>
                              <m:r>
                                <a:rPr lang="en-IN" sz="6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IN" sz="600" i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IN" sz="600" i="0">
                                  <a:latin typeface="Cambria Math" panose="02040503050406030204" pitchFamily="18" charset="0"/>
                                </a:rPr>
                                <m:t>01</m:t>
                              </m:r>
                            </m:oMath>
                          </a14:m>
                          <a:r>
                            <a:rPr lang="en-IN" sz="600"/>
                            <a:t>)</a:t>
                          </a:r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600" dirty="0"/>
                            <a:t>(-∞, ∞)</a:t>
                          </a:r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600"/>
                            <a:t>- Fixes dying ReLU problem- Keeps small gradient for negative side</a:t>
                          </a:r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600"/>
                            <a:t>- Slightly more computation than ReLU- Choice of </a:t>
                          </a:r>
                          <a14:m>
                            <m:oMath xmlns:m="http://schemas.openxmlformats.org/officeDocument/2006/math">
                              <m:r>
                                <a:rPr lang="en-US" sz="6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oMath>
                          </a14:m>
                          <a:r>
                            <a:rPr lang="en-US" sz="600"/>
                            <a:t>is arbitrary</a:t>
                          </a:r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600"/>
                            <a:t>Hidden layers where dying ReLU is a concern</a:t>
                          </a:r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41368440"/>
                      </a:ext>
                    </a:extLst>
                  </a:tr>
                  <a:tr h="107816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600" b="1"/>
                            <a:t>ELU</a:t>
                          </a:r>
                          <a:r>
                            <a:rPr lang="en-IN" sz="600"/>
                            <a:t> (Exponential Linear Unit)</a:t>
                          </a:r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ar-AE" sz="6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ar-AE" sz="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ar-AE" sz="600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ar-AE" sz="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IN" sz="600"/>
                            <a:t>if </a:t>
                          </a:r>
                          <a14:m>
                            <m:oMath xmlns:m="http://schemas.openxmlformats.org/officeDocument/2006/math">
                              <m:r>
                                <a:rPr lang="en-IN" sz="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IN" sz="600" i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IN" sz="6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oMath>
                          </a14:m>
                          <a:r>
                            <a:rPr lang="en-IN" sz="600"/>
                            <a:t>, else </a:t>
                          </a:r>
                          <a14:m>
                            <m:oMath xmlns:m="http://schemas.openxmlformats.org/officeDocument/2006/math">
                              <m:r>
                                <a:rPr lang="en-IN" sz="6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d>
                                <m:dPr>
                                  <m:ctrlPr>
                                    <a:rPr lang="ar-AE" sz="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ar-AE" sz="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ar-AE" sz="600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ar-AE" sz="6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p>
                                  </m:sSup>
                                  <m:r>
                                    <a:rPr lang="ar-AE" sz="60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ar-AE" sz="6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oMath>
                          </a14:m>
                          <a:endParaRPr lang="ar-AE" sz="600"/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l-GR" sz="600"/>
                            <a:t>(-α, ∞)</a:t>
                          </a:r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600" dirty="0"/>
                            <a:t>- Negative values smooth (helps mean shift toward 0)- Avoids dying </a:t>
                          </a:r>
                          <a:r>
                            <a:rPr lang="en-US" sz="600" dirty="0" err="1"/>
                            <a:t>ReLU</a:t>
                          </a:r>
                          <a:r>
                            <a:rPr lang="en-US" sz="600" dirty="0"/>
                            <a:t>- Better convergence sometimes</a:t>
                          </a:r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600"/>
                            <a:t>- More computationally expensive (exp function)- Choice of </a:t>
                          </a:r>
                          <a14:m>
                            <m:oMath xmlns:m="http://schemas.openxmlformats.org/officeDocument/2006/math">
                              <m:r>
                                <a:rPr lang="en-US" sz="6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oMath>
                          </a14:m>
                          <a:r>
                            <a:rPr lang="en-US" sz="600"/>
                            <a:t>matters</a:t>
                          </a:r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600"/>
                            <a:t>Hidden layers in deep CNNs (alternative to ReLU)</a:t>
                          </a:r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86355744"/>
                      </a:ext>
                    </a:extLst>
                  </a:tr>
                  <a:tr h="133692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600" b="1"/>
                            <a:t>Maxout</a:t>
                          </a:r>
                          <a:endParaRPr lang="en-IN" sz="600"/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600"/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IN" sz="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sz="600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sz="6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IN" sz="600" i="0">
                                  <a:latin typeface="Cambria Math" panose="02040503050406030204" pitchFamily="18" charset="0"/>
                                </a:rPr>
                                <m:t>..</m:t>
                              </m:r>
                              <m:r>
                                <a:rPr lang="en-IN" sz="6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oMath>
                          </a14:m>
                          <a:endParaRPr lang="en-IN" sz="600"/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600"/>
                            <a:t>(-∞, ∞)</a:t>
                          </a:r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600"/>
                            <a:t>- Very flexible (generalizes ReLU &amp; Leaky ReLU)- Approximates any convex piecewise-linear function- Works well with Dropout</a:t>
                          </a:r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600"/>
                            <a:t>- More parameters (multiple weight sets)- Higher computation cost- Less common in practice now</a:t>
                          </a:r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600" dirty="0"/>
                            <a:t>Hidden layers (when expressive power is needed, esp. with Dropout)</a:t>
                          </a:r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56319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D409CC25-0A12-F524-01C9-B5B171B9A7DD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928193025"/>
                  </p:ext>
                </p:extLst>
              </p:nvPr>
            </p:nvGraphicFramePr>
            <p:xfrm>
              <a:off x="486561" y="385895"/>
              <a:ext cx="11325138" cy="6123964"/>
            </p:xfrm>
            <a:graphic>
              <a:graphicData uri="http://schemas.openxmlformats.org/drawingml/2006/table">
                <a:tbl>
                  <a:tblPr/>
                  <a:tblGrid>
                    <a:gridCol w="1887523">
                      <a:extLst>
                        <a:ext uri="{9D8B030D-6E8A-4147-A177-3AD203B41FA5}">
                          <a16:colId xmlns:a16="http://schemas.microsoft.com/office/drawing/2014/main" val="717876137"/>
                        </a:ext>
                      </a:extLst>
                    </a:gridCol>
                    <a:gridCol w="1887523">
                      <a:extLst>
                        <a:ext uri="{9D8B030D-6E8A-4147-A177-3AD203B41FA5}">
                          <a16:colId xmlns:a16="http://schemas.microsoft.com/office/drawing/2014/main" val="822330016"/>
                        </a:ext>
                      </a:extLst>
                    </a:gridCol>
                    <a:gridCol w="1887523">
                      <a:extLst>
                        <a:ext uri="{9D8B030D-6E8A-4147-A177-3AD203B41FA5}">
                          <a16:colId xmlns:a16="http://schemas.microsoft.com/office/drawing/2014/main" val="4177873154"/>
                        </a:ext>
                      </a:extLst>
                    </a:gridCol>
                    <a:gridCol w="1887523">
                      <a:extLst>
                        <a:ext uri="{9D8B030D-6E8A-4147-A177-3AD203B41FA5}">
                          <a16:colId xmlns:a16="http://schemas.microsoft.com/office/drawing/2014/main" val="3299295190"/>
                        </a:ext>
                      </a:extLst>
                    </a:gridCol>
                    <a:gridCol w="1887523">
                      <a:extLst>
                        <a:ext uri="{9D8B030D-6E8A-4147-A177-3AD203B41FA5}">
                          <a16:colId xmlns:a16="http://schemas.microsoft.com/office/drawing/2014/main" val="779673406"/>
                        </a:ext>
                      </a:extLst>
                    </a:gridCol>
                    <a:gridCol w="1887523">
                      <a:extLst>
                        <a:ext uri="{9D8B030D-6E8A-4147-A177-3AD203B41FA5}">
                          <a16:colId xmlns:a16="http://schemas.microsoft.com/office/drawing/2014/main" val="23104193"/>
                        </a:ext>
                      </a:extLst>
                    </a:gridCol>
                  </a:tblGrid>
                  <a:tr h="17250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600"/>
                            <a:t>Activation</a:t>
                          </a:r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600"/>
                            <a:t>Formula</a:t>
                          </a:r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600"/>
                            <a:t>Range</a:t>
                          </a:r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600"/>
                            <a:t>Strengths ✅</a:t>
                          </a:r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600"/>
                            <a:t>Drawbacks ❌</a:t>
                          </a:r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600"/>
                            <a:t>Typical Use</a:t>
                          </a:r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73969987"/>
                      </a:ext>
                    </a:extLst>
                  </a:tr>
                  <a:tr h="107816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600" b="1"/>
                            <a:t>Sigmoid</a:t>
                          </a:r>
                          <a:endParaRPr lang="en-IN" sz="600"/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l="-100000" t="-15819" r="-399677" b="-451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600"/>
                            <a:t>(0, 1)</a:t>
                          </a:r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600"/>
                            <a:t>- Smooth, differentiable- Interpretable as probability</a:t>
                          </a:r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600" dirty="0"/>
                            <a:t>- Vanishing gradients (saturates at extremes)- Not zero-centered (slows learning)- Expensive computation</a:t>
                          </a:r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600"/>
                            <a:t>Output layer in binary classification</a:t>
                          </a:r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04617269"/>
                      </a:ext>
                    </a:extLst>
                  </a:tr>
                  <a:tr h="81940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600" b="1"/>
                            <a:t>Tanh</a:t>
                          </a:r>
                          <a:endParaRPr lang="en-IN" sz="600"/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IN" sz="600"/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600"/>
                            <a:t>(-1, 1)</a:t>
                          </a:r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600"/>
                            <a:t>- Zero-centered- Stronger gradients than sigmoid- Better for hidden layers than sigmoid</a:t>
                          </a:r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600"/>
                            <a:t>- Still suffers vanishing gradients at extremes</a:t>
                          </a:r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600"/>
                            <a:t>Hidden layers in RNNs (older architectures)</a:t>
                          </a:r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39868865"/>
                      </a:ext>
                    </a:extLst>
                  </a:tr>
                  <a:tr h="94878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600" b="1"/>
                            <a:t>ReLU</a:t>
                          </a:r>
                          <a:endParaRPr lang="en-IN" sz="600"/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IN" sz="600"/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600"/>
                            <a:t>[0, ∞)</a:t>
                          </a:r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600"/>
                            <a:t>- Simple &amp; efficient- Sparse activations (many zeros)- Avoids vanishing gradient (for +ve side)</a:t>
                          </a:r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600"/>
                            <a:t>- </a:t>
                          </a:r>
                          <a:r>
                            <a:rPr lang="en-IN" sz="600" b="1"/>
                            <a:t>Dying ReLU problem</a:t>
                          </a:r>
                          <a:r>
                            <a:rPr lang="en-IN" sz="600"/>
                            <a:t> (neurons stuck at 0)- Not zero-centered</a:t>
                          </a:r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600"/>
                            <a:t>Default choice for hidden layers in modern DNNs</a:t>
                          </a:r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87583250"/>
                      </a:ext>
                    </a:extLst>
                  </a:tr>
                  <a:tr h="690024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600" b="1"/>
                            <a:t>Leaky ReLU</a:t>
                          </a:r>
                          <a:endParaRPr lang="en-IN" sz="600"/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l="-100000" t="-434211" r="-399677" b="-3473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600" dirty="0"/>
                            <a:t>(-∞, ∞)</a:t>
                          </a:r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600"/>
                            <a:t>- Fixes dying ReLU problem- Keeps small gradient for negative side</a:t>
                          </a:r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l="-399677" t="-434211" r="-100000" b="-3473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600"/>
                            <a:t>Hidden layers where dying ReLU is a concern</a:t>
                          </a:r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41368440"/>
                      </a:ext>
                    </a:extLst>
                  </a:tr>
                  <a:tr h="107816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600" b="1"/>
                            <a:t>ELU</a:t>
                          </a:r>
                          <a:r>
                            <a:rPr lang="en-IN" sz="600"/>
                            <a:t> (Exponential Linear Unit)</a:t>
                          </a:r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l="-100000" t="-344068" r="-399677" b="-1237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l-GR" sz="600"/>
                            <a:t>(-α, ∞)</a:t>
                          </a:r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600" dirty="0"/>
                            <a:t>- Negative values smooth (helps mean shift toward 0)- Avoids dying </a:t>
                          </a:r>
                          <a:r>
                            <a:rPr lang="en-US" sz="600" dirty="0" err="1"/>
                            <a:t>ReLU</a:t>
                          </a:r>
                          <a:r>
                            <a:rPr lang="en-US" sz="600" dirty="0"/>
                            <a:t>- Better convergence sometimes</a:t>
                          </a:r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l="-399677" t="-344068" r="-100000" b="-1237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600"/>
                            <a:t>Hidden layers in deep CNNs (alternative to ReLU)</a:t>
                          </a:r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86355744"/>
                      </a:ext>
                    </a:extLst>
                  </a:tr>
                  <a:tr h="133692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600" b="1"/>
                            <a:t>Maxout</a:t>
                          </a:r>
                          <a:endParaRPr lang="en-IN" sz="600"/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l="-100000" t="-358904" r="-39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600"/>
                            <a:t>(-∞, ∞)</a:t>
                          </a:r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600"/>
                            <a:t>- Very flexible (generalizes ReLU &amp; Leaky ReLU)- Approximates any convex piecewise-linear function- Works well with Dropout</a:t>
                          </a:r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600"/>
                            <a:t>- More parameters (multiple weight sets)- Higher computation cost- Less common in practice now</a:t>
                          </a:r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600" dirty="0"/>
                            <a:t>Hidden layers (when expressive power is needed, esp. with Dropout)</a:t>
                          </a:r>
                        </a:p>
                      </a:txBody>
                      <a:tcPr marL="30643" marR="30643" marT="15322" marB="15322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56319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60245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F7D02-3AC8-8FFA-9A99-7358CFE88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4776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rgbClr val="FF0000"/>
                </a:solidFill>
              </a:rPr>
              <a:t>Back Propagation in Neural Networks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3C7B62C7-8E88-1F82-6897-AF79F9436C6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0253" y="1096834"/>
            <a:ext cx="7228796" cy="5173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B7AEA00-A589-F4D4-5F09-508518414B44}"/>
              </a:ext>
            </a:extLst>
          </p:cNvPr>
          <p:cNvSpPr txBox="1"/>
          <p:nvPr/>
        </p:nvSpPr>
        <p:spPr>
          <a:xfrm>
            <a:off x="2703352" y="6377459"/>
            <a:ext cx="609460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dirty="0"/>
              <a:t>https://www.linkedin.com/pulse/feedforward-vs-backpropagation-ann-saffronedge1/</a:t>
            </a:r>
          </a:p>
        </p:txBody>
      </p:sp>
    </p:spTree>
    <p:extLst>
      <p:ext uri="{BB962C8B-B14F-4D97-AF65-F5344CB8AC3E}">
        <p14:creationId xmlns:p14="http://schemas.microsoft.com/office/powerpoint/2010/main" val="14909473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4F661-9B04-D7B3-B44E-722BE41CB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65385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rgbClr val="FF0000"/>
                </a:solidFill>
              </a:rPr>
              <a:t>Training in Neural Networks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E1EBDB-768E-A3DF-819A-561A9113BF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20753" y="1123302"/>
                <a:ext cx="11392949" cy="5734698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 Epoch</a:t>
                </a:r>
              </a:p>
              <a:p>
                <a:r>
                  <a:rPr lang="en-US" dirty="0"/>
                  <a:t>One </a:t>
                </a:r>
                <a:r>
                  <a:rPr lang="en-US" b="1" dirty="0"/>
                  <a:t>epoch</a:t>
                </a:r>
                <a:r>
                  <a:rPr lang="en-US" dirty="0"/>
                  <a:t> = </a:t>
                </a:r>
                <a:r>
                  <a:rPr lang="en-US" b="1" dirty="0"/>
                  <a:t>one full pass</a:t>
                </a:r>
                <a:r>
                  <a:rPr lang="en-US" dirty="0"/>
                  <a:t> of the entire training dataset through the neural network.</a:t>
                </a:r>
              </a:p>
              <a:p>
                <a:r>
                  <a:rPr lang="en-US" dirty="0"/>
                  <a:t>If you have 1,000 training samples, then after the model has seen all 1,000 samples once </a:t>
                </a:r>
              </a:p>
              <a:p>
                <a:pPr marL="0" indent="0">
                  <a:buNone/>
                </a:pPr>
                <a:r>
                  <a:rPr lang="en-US" dirty="0"/>
                  <a:t>    → that’s </a:t>
                </a:r>
                <a:r>
                  <a:rPr lang="en-US" b="1" dirty="0"/>
                  <a:t>1 epoch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Mini-Batch</a:t>
                </a:r>
              </a:p>
              <a:p>
                <a:r>
                  <a:rPr lang="en-US" dirty="0"/>
                  <a:t>Instead of feeding the entire dataset at once (too large), we split the dataset into </a:t>
                </a:r>
                <a:r>
                  <a:rPr lang="en-US" b="1" dirty="0"/>
                  <a:t>smaller </a:t>
                </a:r>
              </a:p>
              <a:p>
                <a:pPr marL="0" indent="0">
                  <a:buNone/>
                </a:pPr>
                <a:r>
                  <a:rPr lang="en-US" b="1" dirty="0"/>
                  <a:t>    chunks</a:t>
                </a:r>
                <a:r>
                  <a:rPr lang="en-US" dirty="0"/>
                  <a:t> called </a:t>
                </a:r>
                <a:r>
                  <a:rPr lang="en-US" b="1" dirty="0"/>
                  <a:t>mini-batches</a:t>
                </a:r>
                <a:r>
                  <a:rPr lang="en-US" dirty="0"/>
                  <a:t>. Each mini-batch is used to update the weights once.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IN" b="1" dirty="0"/>
                  <a:t>Iteration</a:t>
                </a:r>
              </a:p>
              <a:p>
                <a:r>
                  <a:rPr lang="en-IN" b="1" dirty="0"/>
                  <a:t>Iteration</a:t>
                </a:r>
                <a:r>
                  <a:rPr lang="en-IN" dirty="0"/>
                  <a:t> = </a:t>
                </a:r>
                <a:r>
                  <a:rPr lang="en-IN" b="1" dirty="0"/>
                  <a:t>one update of the model’s parameters (weights and biases)</a:t>
                </a:r>
                <a:r>
                  <a:rPr lang="en-IN" dirty="0"/>
                  <a:t>.</a:t>
                </a:r>
              </a:p>
              <a:p>
                <a:r>
                  <a:rPr lang="en-IN" dirty="0"/>
                  <a:t>Each mini-batch corresponds to </a:t>
                </a:r>
                <a:r>
                  <a:rPr lang="en-IN" b="1" dirty="0"/>
                  <a:t>one iteration</a:t>
                </a:r>
                <a:r>
                  <a:rPr lang="en-IN" dirty="0"/>
                  <a:t>. </a:t>
                </a:r>
                <a:endParaRPr lang="en-IN" b="0" dirty="0"/>
              </a:p>
              <a:p>
                <a:r>
                  <a:rPr lang="en-IN" dirty="0"/>
                  <a:t>For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IN" dirty="0"/>
                  <a:t>samples and mini-batch size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IN" dirty="0"/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b="0"/>
                      <m:t>Iterations</m:t>
                    </m:r>
                    <m:r>
                      <m:rPr>
                        <m:nor/>
                      </m:rPr>
                      <a:rPr lang="en-IN" b="0" i="1"/>
                      <m:t> </m:t>
                    </m:r>
                    <m:r>
                      <m:rPr>
                        <m:nor/>
                      </m:rPr>
                      <a:rPr lang="en-IN" b="0" i="1"/>
                      <m:t>per</m:t>
                    </m:r>
                    <m:r>
                      <m:rPr>
                        <m:nor/>
                      </m:rPr>
                      <a:rPr lang="en-IN" b="0" i="1"/>
                      <m:t> </m:t>
                    </m:r>
                    <m:r>
                      <m:rPr>
                        <m:nor/>
                      </m:rPr>
                      <a:rPr lang="en-IN" b="0" i="1"/>
                      <m:t>epoch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1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𝑀</m:t>
                        </m:r>
                      </m:den>
                    </m:f>
                  </m:oMath>
                </a14:m>
                <a:endParaRPr lang="ar-AE" b="0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E1EBDB-768E-A3DF-819A-561A9113BF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20753" y="1123302"/>
                <a:ext cx="11392949" cy="5734698"/>
              </a:xfrm>
              <a:blipFill>
                <a:blip r:embed="rId2"/>
                <a:stretch>
                  <a:fillRect l="-803" t="-2019" r="-128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99115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CE964-863E-BAFC-E50D-234F3F979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7389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Gradient Descent Algorithm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5E2B98-716D-6BAA-BF71-FB1A9F5E0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6689" y="1468685"/>
            <a:ext cx="3833769" cy="29139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7A8A5C2-730A-DB66-DED2-B62202F8FDE0}"/>
              </a:ext>
            </a:extLst>
          </p:cNvPr>
          <p:cNvSpPr txBox="1"/>
          <p:nvPr/>
        </p:nvSpPr>
        <p:spPr>
          <a:xfrm>
            <a:off x="8300908" y="901682"/>
            <a:ext cx="30095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dirty="0"/>
              <a:t>https://ebrary.net/190741/engineering/propagation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DC3BCA-8EFE-23D9-797F-4A0310F441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890" y="1619687"/>
            <a:ext cx="5251509" cy="4041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49887EF-E705-BB47-BDB6-9AF8CF1CB95F}"/>
              </a:ext>
            </a:extLst>
          </p:cNvPr>
          <p:cNvSpPr txBox="1"/>
          <p:nvPr/>
        </p:nvSpPr>
        <p:spPr>
          <a:xfrm>
            <a:off x="490756" y="6032644"/>
            <a:ext cx="410641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dirty="0"/>
              <a:t>https://towardsdatascience.com/whats-inside-a-neural-network-799daf235463/</a:t>
            </a:r>
          </a:p>
        </p:txBody>
      </p:sp>
    </p:spTree>
    <p:extLst>
      <p:ext uri="{BB962C8B-B14F-4D97-AF65-F5344CB8AC3E}">
        <p14:creationId xmlns:p14="http://schemas.microsoft.com/office/powerpoint/2010/main" val="2555595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842</Words>
  <Application>Microsoft Office PowerPoint</Application>
  <PresentationFormat>Widescreen</PresentationFormat>
  <Paragraphs>92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Office Theme</vt:lpstr>
      <vt:lpstr>Artificial Neural Networks</vt:lpstr>
      <vt:lpstr>Communication in Human Brain</vt:lpstr>
      <vt:lpstr>Communication in Human Brain</vt:lpstr>
      <vt:lpstr>Artificial Neurons(Perceptrons)</vt:lpstr>
      <vt:lpstr>Artificial Neurons</vt:lpstr>
      <vt:lpstr>Artificial Neural Network </vt:lpstr>
      <vt:lpstr>Artificial Neural Network </vt:lpstr>
      <vt:lpstr>Artificial Neural Network (Regression)</vt:lpstr>
      <vt:lpstr>Artificial Neural Network (Classification)</vt:lpstr>
      <vt:lpstr>Activation Functions</vt:lpstr>
      <vt:lpstr>PowerPoint Presentation</vt:lpstr>
      <vt:lpstr>Back Propagation in Neural Networks</vt:lpstr>
      <vt:lpstr>Training in Neural Networks</vt:lpstr>
      <vt:lpstr>Gradient Descent Algorithm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Shiva Charan</dc:creator>
  <cp:lastModifiedBy>Shiva Charan</cp:lastModifiedBy>
  <cp:revision>3</cp:revision>
  <dcterms:created xsi:type="dcterms:W3CDTF">2025-09-20T00:04:41Z</dcterms:created>
  <dcterms:modified xsi:type="dcterms:W3CDTF">2025-09-20T02:41:01Z</dcterms:modified>
</cp:coreProperties>
</file>