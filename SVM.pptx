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8" y="-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D8048-0B40-B3BE-D28D-ADDED7B56F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840DB4-7BE9-6305-CA2E-0EBF64472F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DAB4CA-3B39-08C0-717F-416ECF9C9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C53866-381B-1BE8-3D93-D760ACC60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7CDBC5-9E7A-DDBA-99BC-BD323BC7E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198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248C8-2822-CF33-902E-E0B56444E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9BCD2-9546-6932-F78F-E9BAF77B4D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658F23-C82F-286C-A1CD-31C760DAE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20204-7CDE-7485-65A2-50EDA165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E3132-1854-50A5-0C39-C3A684528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6566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42E54-EB4A-0CEE-3EB5-B98B06853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A4CF3-B0F3-10FB-ECAE-149D1DA81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D862BB-47E6-7F4F-2EA8-5D3EFCD81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7C7B7-A1FF-E886-7BA2-3F7EC100A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37B41-BE16-20A6-4E2A-C50502C0A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157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BB60-0A2F-19EC-2D33-F9785A93D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81DD8-2E73-596D-86FF-58ACA94AD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154DC0-C7C1-08F1-C5FD-7593CE951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251384-2FBA-1031-B11F-0A963E7B0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25546-1E84-A1C4-2AA3-0181667EB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412C47-E174-708A-F444-6A14B6EB6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6220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443D0-8632-5FA6-93D3-445C0A8C0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D3C303-E791-3DB3-E8B3-3826CFAB6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E029C-4A50-A64D-51E9-ED4709C43F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77662-2283-8763-2C2F-45DFAB1A47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1D8896-4D61-380D-0D9A-82E1B5CD8E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45972F-C187-BE0C-45AD-688EF86CD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53157-01FA-5B33-1842-22E83D722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AABCB5-7451-CABF-2F29-D1E938D7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82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951EB-E386-303D-81CE-AFE1E718B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A63AF6-9BAA-713C-7988-759477BCF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0ECCE-B498-763C-66C3-A038ED61D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8F15D-617F-05C5-F37B-0B615C22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364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2E59AA-1F8E-82C0-964C-EE0B4BB1B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898D3A-C537-A722-37E4-DCEE6CA64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62A568-A093-0F9A-B01F-9A4CC067A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276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6ED5-3804-037A-1E5A-411269149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61B38-7E68-58CA-78CB-147922663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2182CA-0B00-FDEE-A704-20A67068F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AF62D-6CA3-FAF4-27B5-BA3F71CDF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71B4B-F7CE-230E-9C83-0564838AE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C4EE6-BF4C-5C45-0986-034DCBC4A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962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814D1-6FF3-8AAC-757C-F6763B96E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98623E-36A8-A594-40A2-44E36D26DB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199532-1B9D-F357-7FD9-05317A5B9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2AE376-DA41-477E-C07D-5877B7682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2BFA0C-6075-E286-AB61-2575E79EC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EC23B9-270F-7E33-97A0-CB7AA4F1D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33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FAE56-804A-442E-6FB6-C4B94B0E3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E620FE-8B47-C178-27CF-1FABEA960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9BA02-04BD-3F3A-ACF7-CE27F1DEE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96C72-87CF-6071-0BF1-C321B343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98AB0-81B8-4EB0-C67F-392260B87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18129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696D3-2DDE-8CA3-689E-9441922753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7FFA06-D962-CFF0-6A80-D1E2EB17BC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8E856-D3DE-9ECA-9D60-8DE0761C0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06C7F-9106-869F-D5B1-7DE6B5ABD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03FB1-7BD4-E0FF-17FB-260ED5762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338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36C885-25CB-0EC5-30AA-1204D77F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00071-D75A-B245-2121-8F7C01A87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F045D-A67A-CF88-7AD7-8026DDFA22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4E2B9-1E5A-43EE-A176-EE977726B5DD}" type="datetimeFigureOut">
              <a:rPr lang="en-IN" smtClean="0"/>
              <a:t>Sat 13/09/25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E9A817-BC9F-CD4D-659D-3BE764B953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474A58-2BAE-A3FA-B4EA-28286A211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01866D-7325-422A-AE17-C437C8C7D7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73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F2D6C-BAB2-D982-A3F2-81EB46BAD2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Support Vector Machines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3FA400-9F24-2B42-999E-DF08D98850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159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5703E-F57B-F95E-71F3-958379CBD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Support Vector Machine Classifier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7C90D-32C4-55EA-3C5B-766DB7BBB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58840" cy="32416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A Support Vector Machine (SVM) classifier is a supervised machine learning algorithm that finds an optimal </a:t>
            </a:r>
            <a:r>
              <a:rPr lang="en-US" b="1" dirty="0"/>
              <a:t>hyperplane</a:t>
            </a:r>
            <a:r>
              <a:rPr lang="en-US" dirty="0"/>
              <a:t> to separate data into different classes.</a:t>
            </a:r>
          </a:p>
          <a:p>
            <a:r>
              <a:rPr lang="en-US" dirty="0"/>
              <a:t> The core idea is to find the hyperplane that has the largest possible </a:t>
            </a:r>
            <a:r>
              <a:rPr lang="en-US" b="1" dirty="0"/>
              <a:t>margin</a:t>
            </a:r>
            <a:r>
              <a:rPr lang="en-US" dirty="0"/>
              <a:t>—the distance between the hyperplane and the closest data points of each class.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F481E7-BC3E-3A99-827B-BFC454F1C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49" y="1543050"/>
            <a:ext cx="3881761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495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20BC-8D4E-A9A0-54F7-7B1BCA487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3095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FF0000"/>
                </a:solidFill>
              </a:rPr>
              <a:t>Key Points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0309A06-3E9E-E083-AA74-8D3B3B8EC8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1021" y="998220"/>
            <a:ext cx="5791199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Hyperplane: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 2D space, a hyperplane is simply a line. In a 3D space, it's a plane. In spaces with more than three dimensions, it's a hyperplane.  It serves as the decision boundary that separates the data points of one class from another.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Vectors: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are the data points closest to the hyperplane. They're the most critical points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because they "support" and define the position and orientation of the hyperplane. Removing any other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points won't affect the hyperplane, but moving or removing a support vector will.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Margin: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margin is the distance between the hyperplane and the support vectors. The goal of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 SVM is to maximize this margin. A larger margin generally leads to better generalization, meaning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model is more likely to correctly classify new, unseen data.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DFFA2A-53FD-4C71-974C-7003EC2D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56" t="4028" r="22969" b="2390"/>
          <a:stretch>
            <a:fillRect/>
          </a:stretch>
        </p:blipFill>
        <p:spPr>
          <a:xfrm>
            <a:off x="6278880" y="922020"/>
            <a:ext cx="5547360" cy="513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70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3CF41-195C-FB28-2976-451BB7473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551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Linear Classification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D5D6A-7274-4D18-B61A-B1F158682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1082040"/>
            <a:ext cx="6141720" cy="501396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For data that is </a:t>
            </a:r>
            <a:r>
              <a:rPr lang="en-US" b="1" dirty="0"/>
              <a:t>linearly separable</a:t>
            </a:r>
            <a:r>
              <a:rPr lang="en-US" dirty="0"/>
              <a:t> (meaning a single straight line or plane can divide the classes), the SVM algorithm works as follows:</a:t>
            </a:r>
          </a:p>
          <a:p>
            <a:r>
              <a:rPr lang="en-US" dirty="0"/>
              <a:t>The algorithm identifies multiple possible hyperplanes that could separate the data.</a:t>
            </a:r>
          </a:p>
          <a:p>
            <a:r>
              <a:rPr lang="en-US" dirty="0"/>
              <a:t>It then selects the single best hyperplane—the one that maximizes the distance to the nearest data points of each class. This is known as the </a:t>
            </a:r>
            <a:r>
              <a:rPr lang="en-US" b="1" dirty="0"/>
              <a:t>maximum-margin hyperplane</a:t>
            </a:r>
            <a:r>
              <a:rPr lang="en-US" dirty="0"/>
              <a:t>.</a:t>
            </a:r>
          </a:p>
          <a:p>
            <a:r>
              <a:rPr lang="en-US" dirty="0"/>
              <a:t>The data points that lie on the margin boundaries are the support vectors. The SVM classifier is entirely defined by these vectors and the maximum margin they create.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F28871-5581-25B8-5F4D-813571C6F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3152" y="992505"/>
            <a:ext cx="5111667" cy="3411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23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FC059-CCA4-DC42-4F3A-63B3F99C4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71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Non-linear Classification (The Kernel Trick)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3323FB-B6F7-150D-AEEF-E0A8CCE44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420" y="887570"/>
            <a:ext cx="8199120" cy="486552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Many real-world datasets aren't linearly separable. In these cases, a simple straight line can't effectively separate the classes. This is where the </a:t>
            </a:r>
            <a:r>
              <a:rPr lang="en-US" b="1" dirty="0"/>
              <a:t>kernel trick</a:t>
            </a:r>
            <a:r>
              <a:rPr lang="en-US" dirty="0"/>
              <a:t> comes in.</a:t>
            </a:r>
          </a:p>
          <a:p>
            <a:r>
              <a:rPr lang="en-US" dirty="0"/>
              <a:t>The kernel trick transforms the data from its original, low-dimensional space into a new, higher-dimensional space.</a:t>
            </a:r>
          </a:p>
          <a:p>
            <a:r>
              <a:rPr lang="en-US" dirty="0"/>
              <a:t>In this new, higher-dimensional space, the data that was once intertwined and non-separable becomes linearly separable.</a:t>
            </a:r>
          </a:p>
          <a:p>
            <a:r>
              <a:rPr lang="en-US" dirty="0"/>
              <a:t>The SVM then finds a linear hyperplane in this higher-dimensional space to separate the classes. This hyperplane, when mapped back to the original space, appears as a complex, non-linear boundary.</a:t>
            </a:r>
          </a:p>
          <a:p>
            <a:r>
              <a:rPr lang="en-US" dirty="0"/>
              <a:t>Common kernel functions include the </a:t>
            </a:r>
            <a:r>
              <a:rPr lang="en-US" b="1" dirty="0"/>
              <a:t>Radial Basis Function (RBF)</a:t>
            </a:r>
            <a:r>
              <a:rPr lang="en-US" dirty="0"/>
              <a:t>, polynomial, and sigmoid kernels. The choice of kernel depends on the dataset and problem.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999FD2-683A-9764-B4E6-0CFE171CDF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8425"/>
          <a:stretch>
            <a:fillRect/>
          </a:stretch>
        </p:blipFill>
        <p:spPr>
          <a:xfrm>
            <a:off x="8679180" y="887570"/>
            <a:ext cx="2584399" cy="24775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FB11D4B-78C3-275E-FD37-276F2E0B30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3684"/>
          <a:stretch>
            <a:fillRect/>
          </a:stretch>
        </p:blipFill>
        <p:spPr>
          <a:xfrm>
            <a:off x="8801099" y="3429000"/>
            <a:ext cx="2849881" cy="245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817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0E35-0B55-F042-CD98-B0769102D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10515600" cy="1325563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Kernel Trick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6F881-DF5D-C423-0477-A01EC3695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1409700"/>
            <a:ext cx="5821680" cy="465296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If the data is not linearly separable in the original, or input, space then we apply transformations to the data, which map the data from the original space into a higher dimensional feature space. </a:t>
            </a:r>
          </a:p>
          <a:p>
            <a:r>
              <a:rPr lang="en-US" dirty="0"/>
              <a:t>The goal is that after the transformation to the higher dimensional space, the classes are now linearly separable </a:t>
            </a:r>
            <a:r>
              <a:rPr lang="en-US" i="1" dirty="0"/>
              <a:t>in this higher dimensional feature space</a:t>
            </a:r>
            <a:r>
              <a:rPr lang="en-US" dirty="0"/>
              <a:t>. </a:t>
            </a:r>
          </a:p>
          <a:p>
            <a:r>
              <a:rPr lang="en-US" dirty="0"/>
              <a:t>We can then fit a decision boundary to separate the classes and make predictions. The decision boundary will be a hyperplane in this higher dimensional space.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8D824F-64B0-87A5-3CB9-DF22D19AC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250" y="1802130"/>
            <a:ext cx="5194529" cy="2907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612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6C1B0-3CD9-BAED-85D3-08B8F98C8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Hyper Parameters in SVM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B7A5-A51E-535C-4CA1-BBE2D2EBDB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C (Regularization Parameter):</a:t>
            </a:r>
            <a:r>
              <a:rPr lang="en-US" dirty="0"/>
              <a:t> This parameter controls the trade-off between maximizing the margin and minimizing misclassification. A small C value creates a wider margin but allows for more misclassifications, making the model more robust to outliers. A large C value results in a narrower margin but penalizes misclassifications more heavily, which can lead to overfitting if the data is noisy.</a:t>
            </a:r>
          </a:p>
          <a:p>
            <a:r>
              <a:rPr lang="en-US" b="1" dirty="0"/>
              <a:t>Gamma:</a:t>
            </a:r>
            <a:r>
              <a:rPr lang="en-US" dirty="0"/>
              <a:t> For non-linear kernels like the RBF, the gamma parameter defines how much influence a single training example has. Low gamma means a large influence, leading to a wider, smoother decision boundary. High gamma means a small influence, creating a more complex boundary that might overfit the training data.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5586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4901-ECFD-C0A1-EBCE-28660844A3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Kernel Functions in SVM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B78D3EE-A71A-A221-091D-D0BBB507EF6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07715919"/>
                  </p:ext>
                </p:extLst>
              </p:nvPr>
            </p:nvGraphicFramePr>
            <p:xfrm>
              <a:off x="838200" y="1690688"/>
              <a:ext cx="10515600" cy="4137851"/>
            </p:xfrm>
            <a:graphic>
              <a:graphicData uri="http://schemas.openxmlformats.org/drawingml/2006/table">
                <a:tbl>
                  <a:tblPr/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92775623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71469013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83351169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428628719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Kernel</a:t>
                          </a:r>
                          <a:endParaRPr lang="en-IN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        Formula</a:t>
                          </a:r>
                          <a:endParaRPr lang="en-IN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Key Parameters</a:t>
                          </a:r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Usage / Notes</a:t>
                          </a:r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823691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Linear</a:t>
                          </a:r>
                          <a:endParaRPr lang="en-IN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⊤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AE" dirty="0"/>
                        </a:p>
                        <a:p>
                          <a:pPr>
                            <a:buNone/>
                          </a:pPr>
                          <a:endParaRPr lang="ar-AE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None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Works well when data is linearly separable. Fastest to compute.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25664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Polynomial</a:t>
                          </a:r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d>
                                <m:r>
                                  <a:rPr lang="ar-AE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endChr m:val=""/>
                                    <m:ctrlP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⊤</m:t>
                                        </m:r>
                                      </m:sup>
                                    </m:sSup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ar-AE" i="0">
                                            <a:latin typeface="Cambria Math" panose="020405030504060302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  <m:r>
                                      <a:rPr lang="ar-AE" i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i="1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  <m:sSup>
                                      <m:sSupPr>
                                        <m:ctrlP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begChr m:val=""/>
                                            <m:endChr m:val=""/>
                                            <m:ctrlPr>
                                              <a:rPr lang="ar-AE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ar-AE" i="0">
                                                <a:latin typeface="Cambria Math" panose="02040503050406030204" pitchFamily="18" charset="0"/>
                                              </a:rPr>
                                              <m:t>)</m:t>
                                            </m:r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ar-AE" i="1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ar-AE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oMath>
                          </a14:m>
                          <a:r>
                            <a:rPr lang="en-IN"/>
                            <a:t>= degree, </a:t>
                          </a:r>
                          <a14:m>
                            <m:oMath xmlns:m="http://schemas.openxmlformats.org/officeDocument/2006/math"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IN"/>
                            <a:t>= constant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Captures polynomial relationships between features.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5395558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RBF (Gaussian)</a:t>
                          </a:r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                                                     </a:t>
                          </a:r>
                          <a14:m>
                            <m:oMath xmlns:m="http://schemas.openxmlformats.org/officeDocument/2006/math">
                              <m:r>
                                <a:rPr lang="en-IN" b="0" i="0" smtClean="0">
                                  <a:latin typeface="Cambria Math" panose="02040503050406030204" pitchFamily="18" charset="0"/>
                                </a:rPr>
                                <m:t>          </m:t>
                              </m:r>
                              <m:r>
                                <a:rPr lang="ar-AE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  <m:r>
                                <a:rPr lang="ar-AE" i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ar-AE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ar-AE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sSup>
                                    <m:sSupPr>
                                      <m:ctrlP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ar-AE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ar-AE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oMath>
                          </a14:m>
                          <a:r>
                            <a:rPr lang="en-IN" dirty="0"/>
                            <a:t>       K(</a:t>
                          </a:r>
                          <a:r>
                            <a:rPr lang="en-IN" dirty="0" err="1"/>
                            <a:t>x,x</a:t>
                          </a:r>
                          <a:r>
                            <a:rPr lang="en-IN" dirty="0"/>
                            <a:t>′)=exp(−</a:t>
                          </a:r>
                          <a:r>
                            <a:rPr lang="el-GR" dirty="0"/>
                            <a:t>γ∥</a:t>
                          </a:r>
                          <a:r>
                            <a:rPr lang="en-IN" dirty="0"/>
                            <a:t>x−x′∥</a:t>
                          </a:r>
                          <a:r>
                            <a:rPr lang="en-IN" baseline="30000" dirty="0"/>
                            <a:t>2</a:t>
                          </a:r>
                          <a:r>
                            <a:rPr lang="en-IN" dirty="0"/>
                            <a:t>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ar-AE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Most popular; handles complex nonlinear boundaries.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886444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Sigmoid</a:t>
                          </a:r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K(</a:t>
                          </a:r>
                          <a:r>
                            <a:rPr lang="en-IN" dirty="0" err="1"/>
                            <a:t>x,x</a:t>
                          </a:r>
                          <a:r>
                            <a:rPr lang="en-IN" dirty="0"/>
                            <a:t>′)=tanh(</a:t>
                          </a:r>
                          <a:r>
                            <a:rPr lang="el-GR" dirty="0"/>
                            <a:t>α</a:t>
                          </a:r>
                          <a:r>
                            <a:rPr lang="en-IN" dirty="0"/>
                            <a:t>x</a:t>
                          </a:r>
                          <a:r>
                            <a:rPr lang="en-IN" baseline="30000" dirty="0"/>
                            <a:t>⊤</a:t>
                          </a:r>
                          <a:r>
                            <a:rPr lang="en-IN" dirty="0"/>
                            <a:t>x′+c)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en-IN" dirty="0"/>
                            <a:t>= slope, </a:t>
                          </a:r>
                          <a14:m>
                            <m:oMath xmlns:m="http://schemas.openxmlformats.org/officeDocument/2006/math"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oMath>
                          </a14:m>
                          <a:r>
                            <a:rPr lang="en-IN" dirty="0"/>
                            <a:t>= intercept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Similar to neural networks; less common in practice.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588012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AB78D3EE-A71A-A221-091D-D0BBB507EF60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007715919"/>
                  </p:ext>
                </p:extLst>
              </p:nvPr>
            </p:nvGraphicFramePr>
            <p:xfrm>
              <a:off x="838200" y="1690688"/>
              <a:ext cx="10515600" cy="4137851"/>
            </p:xfrm>
            <a:graphic>
              <a:graphicData uri="http://schemas.openxmlformats.org/drawingml/2006/table">
                <a:tbl>
                  <a:tblPr/>
                  <a:tblGrid>
                    <a:gridCol w="2628900">
                      <a:extLst>
                        <a:ext uri="{9D8B030D-6E8A-4147-A177-3AD203B41FA5}">
                          <a16:colId xmlns:a16="http://schemas.microsoft.com/office/drawing/2014/main" val="1927756233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714690132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3833511691"/>
                        </a:ext>
                      </a:extLst>
                    </a:gridCol>
                    <a:gridCol w="2628900">
                      <a:extLst>
                        <a:ext uri="{9D8B030D-6E8A-4147-A177-3AD203B41FA5}">
                          <a16:colId xmlns:a16="http://schemas.microsoft.com/office/drawing/2014/main" val="428628719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Kernel</a:t>
                          </a:r>
                          <a:endParaRPr lang="en-IN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        Formula</a:t>
                          </a:r>
                          <a:endParaRPr lang="en-IN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Key Parameters</a:t>
                          </a:r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Usage / Notes</a:t>
                          </a:r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78236917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 dirty="0"/>
                            <a:t>Linear</a:t>
                          </a:r>
                          <a:endParaRPr lang="en-IN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232" t="-43333" r="-200232" b="-32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/>
                            <a:t>None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Works well when data is linearly separable. Fastest to compute.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82566465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Polynomial</a:t>
                          </a:r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232" t="-142384" r="-200232" b="-2211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99769" t="-142384" r="-99769" b="-2211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Captures polynomial relationships between features.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5395558"/>
                      </a:ext>
                    </a:extLst>
                  </a:tr>
                  <a:tr h="102889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RBF (Gaussian)</a:t>
                          </a:r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00232" t="-216568" r="-200232" b="-976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ar-AE" dirty="0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/>
                            <a:t>Most popular; handles complex nonlinear boundaries.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58864440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b="1"/>
                            <a:t>Sigmoid</a:t>
                          </a:r>
                          <a:endParaRPr lang="en-IN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dirty="0"/>
                            <a:t>K(</a:t>
                          </a:r>
                          <a:r>
                            <a:rPr lang="en-IN" dirty="0" err="1"/>
                            <a:t>x,x</a:t>
                          </a:r>
                          <a:r>
                            <a:rPr lang="en-IN" dirty="0"/>
                            <a:t>′)=tanh(</a:t>
                          </a:r>
                          <a:r>
                            <a:rPr lang="el-GR" dirty="0"/>
                            <a:t>α</a:t>
                          </a:r>
                          <a:r>
                            <a:rPr lang="en-IN" dirty="0"/>
                            <a:t>x</a:t>
                          </a:r>
                          <a:r>
                            <a:rPr lang="en-IN" baseline="30000" dirty="0"/>
                            <a:t>⊤</a:t>
                          </a:r>
                          <a:r>
                            <a:rPr lang="en-IN" dirty="0"/>
                            <a:t>x′+c)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 l="-199769" t="-356667" r="-99769" b="-1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dirty="0"/>
                            <a:t>Similar to neural networks; less common in practice.</a:t>
                          </a:r>
                        </a:p>
                      </a:txBody>
                      <a:tcPr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858801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44217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796</Words>
  <Application>Microsoft Office PowerPoint</Application>
  <PresentationFormat>Widescreen</PresentationFormat>
  <Paragraphs>52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Support Vector Machines</vt:lpstr>
      <vt:lpstr>Support Vector Machine Classifier</vt:lpstr>
      <vt:lpstr>Key Points</vt:lpstr>
      <vt:lpstr>Linear Classification </vt:lpstr>
      <vt:lpstr>Non-linear Classification (The Kernel Trick) </vt:lpstr>
      <vt:lpstr>Kernel Trick</vt:lpstr>
      <vt:lpstr>Hyper Parameters in SVM</vt:lpstr>
      <vt:lpstr>Kernel Functions in SVM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 Charan</dc:creator>
  <cp:lastModifiedBy>Shiva Charan</cp:lastModifiedBy>
  <cp:revision>1</cp:revision>
  <dcterms:created xsi:type="dcterms:W3CDTF">2025-09-13T02:32:42Z</dcterms:created>
  <dcterms:modified xsi:type="dcterms:W3CDTF">2025-09-13T03:47:54Z</dcterms:modified>
</cp:coreProperties>
</file>